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e10fc8116c43ca" /><Relationship Type="http://schemas.openxmlformats.org/officeDocument/2006/relationships/extended-properties" Target="/docProps/app.xml" Id="R8e37f282372848b3" /><Relationship Type="http://schemas.openxmlformats.org/officeDocument/2006/relationships/officeDocument" Target="/ppt/presentation.xml" Id="R308aad91c45e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8c2cc3b9f4561"/>
  </p:sldMasterIdLst>
  <p:notesMasterIdLst>
    <p:notesMasterId xmlns:r="http://schemas.openxmlformats.org/officeDocument/2006/relationships" r:id="R69b13a063ca0478c"/>
  </p:notesMasterIdLst>
  <p:sldIdLst>
    <p:sldId xmlns:r="http://schemas.openxmlformats.org/officeDocument/2006/relationships" id="256" r:id="Ra17f7dce91224a9e"/>
    <p:sldId xmlns:r="http://schemas.openxmlformats.org/officeDocument/2006/relationships" id="257" r:id="Ra56ccf2db49e48bf"/>
    <p:sldId xmlns:r="http://schemas.openxmlformats.org/officeDocument/2006/relationships" id="258" r:id="Rc1d50bcf88ce44c5"/>
    <p:sldId xmlns:r="http://schemas.openxmlformats.org/officeDocument/2006/relationships" id="259" r:id="R03f0f42f7fc4433f"/>
    <p:sldId xmlns:r="http://schemas.openxmlformats.org/officeDocument/2006/relationships" id="260" r:id="R424ab5f470ad4c1c"/>
    <p:sldId xmlns:r="http://schemas.openxmlformats.org/officeDocument/2006/relationships" id="261" r:id="R5b970b985b9d4a07"/>
    <p:sldId xmlns:r="http://schemas.openxmlformats.org/officeDocument/2006/relationships" id="262" r:id="R4f14f652b5004e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9ad130b655449b" /><Relationship Type="http://schemas.openxmlformats.org/officeDocument/2006/relationships/slideMaster" Target="/ppt/slideMasters/slideMaster1.xml" Id="R5398c2cc3b9f4561" /><Relationship Type="http://schemas.openxmlformats.org/officeDocument/2006/relationships/notesMaster" Target="/ppt/notesMasters/notesMaster1.xml" Id="R69b13a063ca0478c" /><Relationship Type="http://schemas.openxmlformats.org/officeDocument/2006/relationships/presProps" Target="/ppt/presProps.xml" Id="R43952c19ecae4400" /><Relationship Type="http://schemas.openxmlformats.org/officeDocument/2006/relationships/tableStyles" Target="/ppt/tableStyles.xml" Id="Rd4f3a9472a854c0c" /><Relationship Type="http://schemas.openxmlformats.org/officeDocument/2006/relationships/slide" Target="/ppt/slides/slide1.xml" Id="Ra17f7dce91224a9e" /><Relationship Type="http://schemas.openxmlformats.org/officeDocument/2006/relationships/slide" Target="/ppt/slides/slide2.xml" Id="Ra56ccf2db49e48bf" /><Relationship Type="http://schemas.openxmlformats.org/officeDocument/2006/relationships/slide" Target="/ppt/slides/slide3.xml" Id="Rc1d50bcf88ce44c5" /><Relationship Type="http://schemas.openxmlformats.org/officeDocument/2006/relationships/slide" Target="/ppt/slides/slide4.xml" Id="R03f0f42f7fc4433f" /><Relationship Type="http://schemas.openxmlformats.org/officeDocument/2006/relationships/slide" Target="/ppt/slides/slide5.xml" Id="R424ab5f470ad4c1c" /><Relationship Type="http://schemas.openxmlformats.org/officeDocument/2006/relationships/slide" Target="/ppt/slides/slide6.xml" Id="R5b970b985b9d4a07" /><Relationship Type="http://schemas.openxmlformats.org/officeDocument/2006/relationships/slide" Target="/ppt/slides/slide7.xml" Id="R4f14f652b500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67cabb3db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234d063994e18" /><Relationship Type="http://schemas.openxmlformats.org/officeDocument/2006/relationships/notesMaster" Target="/ppt/notesMasters/notesMaster1.xml" Id="Rdb903995eb9649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fb5a327c54c0f" /><Relationship Type="http://schemas.openxmlformats.org/officeDocument/2006/relationships/notesMaster" Target="/ppt/notesMasters/notesMaster1.xml" Id="R86cf8986e0c348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9ae8da3c744de4" /><Relationship Type="http://schemas.openxmlformats.org/officeDocument/2006/relationships/notesMaster" Target="/ppt/notesMasters/notesMaster1.xml" Id="R304ca637e340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af4346894f4665" /><Relationship Type="http://schemas.openxmlformats.org/officeDocument/2006/relationships/notesMaster" Target="/ppt/notesMasters/notesMaster1.xml" Id="R77d328fd556849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eaffa9453148e2" /><Relationship Type="http://schemas.openxmlformats.org/officeDocument/2006/relationships/notesMaster" Target="/ppt/notesMasters/notesMaster1.xml" Id="R07f4fa11648b4d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2606a830948eb" /><Relationship Type="http://schemas.openxmlformats.org/officeDocument/2006/relationships/notesMaster" Target="/ppt/notesMasters/notesMaster1.xml" Id="R9f3089ef19e949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9531f8782b4d5c" /><Relationship Type="http://schemas.openxmlformats.org/officeDocument/2006/relationships/notesMaster" Target="/ppt/notesMasters/notesMaster1.xml" Id="R126f96c38e01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CAP2 Complete Process Improvement Plan, prepared from the supplied CAP2 time study, run-rate records, project plans and SOP Rev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Time study CAP 2 Rewind. Coded event sample totals 4,354 minutes across 185 events. The YTD summary reports 169.05 production hours and 621.05 downtime hours. RST10 figures are product-specific and do not represent all CAP2 products.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CAP2 Complete Process Improvement Plan, Sections 6.2 through 6.6. Targets are improvement goals subject to safety, quality and baseline validation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gate: no change may bypass guarding, light curtains, crane rules, two-person lift requirements or control interlocks. Crane speed and hook-bar changes require Engineering and EHS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CAP2 Complete Process Improvement Plan, setup time reduction, material readiness, scrap control and minor-stop workstreams.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production-control logic. Hourly targets must come from the approved product-specific target card. Separate operator-controlled losses from material, maintenance, quality, forklift and scrap-service delays. Management must approve alert thresholds and response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CAP2 Complete Process Improvement Plan, 90-day roadmap and governance sections. Add the hourly target screen and support-call system during the pilot phase, then validate alert logic and response times before full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817d1657344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f61a6619464b27" /><Relationship Type="http://schemas.openxmlformats.org/officeDocument/2006/relationships/slideLayout" Target="/ppt/slideLayouts/slideLayout1.xml" Id="R129ceb62812f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ceb62812f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733ce48db43df" /><Relationship Type="http://schemas.openxmlformats.org/officeDocument/2006/relationships/notesSlide" Target="/ppt/notesSlides/notesSlide1.xml" Id="R779d6e06943b4f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4e31c499e4a7e" /><Relationship Type="http://schemas.openxmlformats.org/officeDocument/2006/relationships/chart" Target="/ppt/slides/charts/chart1.xml" Id="Rc38c8faf61374b54" /><Relationship Type="http://schemas.openxmlformats.org/officeDocument/2006/relationships/notesSlide" Target="/ppt/notesSlides/notesSlide2.xml" Id="R1417378a4a4c4a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29a2eb3d94937" /><Relationship Type="http://schemas.openxmlformats.org/officeDocument/2006/relationships/notesSlide" Target="/ppt/notesSlides/notesSlide3.xml" Id="R84b786664a4d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28ece383749c6" /><Relationship Type="http://schemas.openxmlformats.org/officeDocument/2006/relationships/notesSlide" Target="/ppt/notesSlides/notesSlide4.xml" Id="R39e3abb6403d40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27b2922be41e1" /><Relationship Type="http://schemas.openxmlformats.org/officeDocument/2006/relationships/notesSlide" Target="/ppt/notesSlides/notesSlide5.xml" Id="R6c06be6edac549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a21a3c51a4f9d" /><Relationship Type="http://schemas.openxmlformats.org/officeDocument/2006/relationships/notesSlide" Target="/ppt/notesSlides/notesSlide6.xml" Id="R89453453385449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bf515d6fd4f1c" /><Relationship Type="http://schemas.openxmlformats.org/officeDocument/2006/relationships/notesSlide" Target="/ppt/notesSlides/notesSlide7.xml" Id="R2fec00edc94f4d2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Recorded minutes</c:v>
          </c:tx>
          <c:spPr>
            <a:solidFill xmlns:a="http://schemas.openxmlformats.org/drawingml/2006/main">
              <a:srgbClr val="2F5597"/>
            </a:solidFill>
          </c:spPr>
          <c:cat>
            <c:strRef>
              <c:f>'Chart Data'!$A$2:$A$7</c:f>
              <c:strCache>
                <c:ptCount val="6"/>
                <c:pt idx="0">
                  <c:v>Material feeding</c:v>
                </c:pt>
                <c:pt idx="1">
                  <c:v>Roll change GRP</c:v>
                </c:pt>
                <c:pt idx="2">
                  <c:v>Roll change NPF/FF/RST</c:v>
                </c:pt>
                <c:pt idx="3">
                  <c:v>Mechanical issues</c:v>
                </c:pt>
                <c:pt idx="4">
                  <c:v>Waiting for material</c:v>
                </c:pt>
                <c:pt idx="5">
                  <c:v>Quality issues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1145</c:v>
                </c:pt>
                <c:pt idx="1">
                  <c:v>527</c:v>
                </c:pt>
                <c:pt idx="2">
                  <c:v>467</c:v>
                </c:pt>
                <c:pt idx="3">
                  <c:v>414</c:v>
                </c:pt>
                <c:pt idx="4">
                  <c:v>390</c:v>
                </c:pt>
                <c:pt idx="5">
                  <c:v>238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9DAD5-B850-448D-AE42-AC47E7FE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CAP2 process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9604C-D6EA-45A3-BECD-3196181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Action plan for faster changeovers and stable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EB490-D1BF-40B8-A84F-E76ED39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872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7CD83-896F-4991-96CC-5D04D0C4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Rewind and crane cycle   Setup reduction   Hourly target screen   Material and support calls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B40E9-69FA-4C8B-804A-7275F49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90 day 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1433416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7BCDD-7EA7-41B0-911C-77D38A5E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Current state and main losses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2CF8-365E-4EC9-916A-C912F420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872"/>
                </a:solidFill>
                <a:latin typeface="Arial"/>
                <a:ea typeface="Arial"/>
                <a:cs typeface="Arial"/>
              </a:rPr>
              <a:t>The supplied records show high variation and large avoidable delays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90550" y="161925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8c8faf61374b5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A827F-7E52-4BF4-BA9F-86D1CDF2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8592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67.6%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31610-EFA6-4EC3-AE4F-29D67908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of coded downtime minutes came from the top five loss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9B43D-8CEC-4373-B0DE-34F8D68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21.4%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B8E7A-ECA0-4B59-831B-BA89B253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481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reported productive share. Validate the time records before treating this as formal OEE.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B18A5-854E-4FF0-BF99-9BD6AC35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RST10 remains a product case study only. Every product family needs its own run-rate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8AC1A-3A50-4D4C-BCD1-9E30EBD9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3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B838B"/>
                </a:solidFill>
                <a:latin typeface="Arial"/>
                <a:ea typeface="Arial"/>
                <a:cs typeface="Arial"/>
              </a:rPr>
              <a:t>CAP2 action plan     2</a:t>
            </a:r>
          </a:p>
        </p:txBody>
      </p:sp>
    </p:spTree>
    <p:extLst>
      <p:ext uri="{BB962C8B-B14F-4D97-AF65-F5344CB8AC3E}">
        <p14:creationId xmlns:p14="http://schemas.microsoft.com/office/powerpoint/2010/main" val="1382627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F213C-1C8D-4DF3-9BB3-0B4E83A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Six action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C4C3B-FC1B-43A6-BAF4-D09691F3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872"/>
                </a:solidFill>
                <a:latin typeface="Arial"/>
                <a:ea typeface="Arial"/>
                <a:cs typeface="Arial"/>
              </a:rPr>
              <a:t>Each priority has a measurable operating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E2BC9-B09D-4AB5-9279-06F7273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F4A33-79CD-499B-872C-9B35615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476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Rewind restart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41C44-0069-4F06-A607-3756AF40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383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Start the next roll sooner. Separate restart work from wrapping where the approved method allows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458BF-82BB-47E5-88DD-8F8EA3C9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428875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Median repeat exchange at or below 2 min 30 sec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DFB27-3960-4FCB-8CAB-2971A69E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7637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78306-7475-4BE8-A9D5-F840B1A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76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Crane and lifting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D9E03-55E4-469F-B9D1-71F84687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383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Reduce crane travel and attachment time. Develop a rated hook-bar lifting aid.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6465A-09D8-4C9A-A25C-A842830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28875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25% lower crane time and 30% faster attachment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065BE-540E-49A7-96D5-2AC611DD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522B3-69A0-43FA-9669-7FCA41C4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48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Setup reduction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07328-CD19-4C7A-A6AE-ACD707F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099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Use SMED to stage rolls, cores, tools, recipes and pallets before shutdown.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10751-BF35-4607-9034-D1C4B4F2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00050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30% lower median setup time by Day 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624F-4521-43D5-A1A7-9362B9C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48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F3F08-0584-4F39-A698-950E856C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Point of use 5S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2EE5E-D56B-4845-830F-9659889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Move approved cores, wrap, tools and lifting gear closer to the operator.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6A93D-DFD3-4BF9-B260-A2FC6EB0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No searching or missing-item delays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B46D2-9045-4D16-9D4E-452CBE8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59ACB-F6D5-4F98-98D3-76997F0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619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Material and scrap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2D829-146C-49D1-B637-1752F5B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98157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Maintain two-job readiness and correct alignment, tension and flow problems at source.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1F381-7874-4D72-AD8F-876AABB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2125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50% fewer flow stops and 30% lower scrap by Day 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FFA32-49CD-4ABF-8239-85C6E10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19625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4EB35-2AEE-4AF2-BF31-904B0E2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19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Minor stops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42300-F9A5-4073-96DB-ACCF2C3C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8157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Record interruptions over 30 seconds and close the top recurring petty issues.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31D34-EDFC-4D88-B06A-4CD7A003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72125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80% reduction in the top 10 micro-stops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B54A7-B1FD-41E5-9A07-4135284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3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B838B"/>
                </a:solidFill>
                <a:latin typeface="Arial"/>
                <a:ea typeface="Arial"/>
                <a:cs typeface="Arial"/>
              </a:rPr>
              <a:t>CAP2 action plan     3</a:t>
            </a:r>
          </a:p>
        </p:txBody>
      </p:sp>
    </p:spTree>
    <p:extLst>
      <p:ext uri="{BB962C8B-B14F-4D97-AF65-F5344CB8AC3E}">
        <p14:creationId xmlns:p14="http://schemas.microsoft.com/office/powerpoint/2010/main" val="539567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672C7-06CE-4270-A084-784F463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Rewind and crane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BB0C9-6AF0-4E31-AE3C-463F1162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872"/>
                </a:solidFill>
                <a:latin typeface="Arial"/>
                <a:ea typeface="Arial"/>
                <a:cs typeface="Arial"/>
              </a:rPr>
              <a:t>Reduce the delay between a completed roll and the start of the next roll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9932C-D2D6-47D3-BB9E-E971C80D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A4DC5-2A09-47B5-B20C-3DBB482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5170B-4A91-4B78-AB52-0977E37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Stage the correct core, wrap, lifting bar and empty skid before the cut.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A10AA-49D8-44C7-8705-819EAE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19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48CF8-449F-47BB-8473-3399A259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Unload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594FF-ACC3-43E6-9E48-9DB4B1A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Position the crane at its home point and remove the completed roll safely.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612CA-3089-4197-904A-346C22F2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C632A-41E3-4EF5-BD4D-F2CC3D7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83978-D7CF-4440-89D0-E6EAFE02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Assign one panel owner to reset and start immediately after the safe all-clear.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F9449-D18F-4498-BE16-E65EBC91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6997B-FF53-46E0-8291-264FF388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96CBC-C8C2-4F24-9BAB-E4A129F1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Wrap, post and transfer the previous roll while production continues when the approved method allows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4303E-2295-4010-A39D-27FAAF8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Engineering trials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D5A6D-E924-4CB8-BB8D-8818A58E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Rewind 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C6266-B11E-4DF9-B474-7905C542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Increase by controlled SKU trials. Check tracking, dancer stability, roll tightness and stopping.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4CC77-1F27-45BD-B880-AAB7F950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005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Crane 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C6794-3B51-4888-BE01-7B31F0FC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958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Confirm rated limits, load stability, stopping distance and control condition before adjustment.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9E986-C434-43CD-AA72-C0433F9A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00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Hook-bar lifting aid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D3186-B0CA-4B9C-8DE6-DB47755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958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Complete calculations, risk assessment, proof-load test, inspection standard and operator trial.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E217C-E781-4682-8E6B-3E55C8B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3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B838B"/>
                </a:solidFill>
                <a:latin typeface="Arial"/>
                <a:ea typeface="Arial"/>
                <a:cs typeface="Arial"/>
              </a:rPr>
              <a:t>CAP2 action plan     4</a:t>
            </a:r>
          </a:p>
        </p:txBody>
      </p:sp>
    </p:spTree>
    <p:extLst>
      <p:ext uri="{BB962C8B-B14F-4D97-AF65-F5344CB8AC3E}">
        <p14:creationId xmlns:p14="http://schemas.microsoft.com/office/powerpoint/2010/main" val="437111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57794-FD78-4099-BBDD-A636169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Setup material and flow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DFEBE-88BB-4B40-83CF-FA64CF09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872"/>
                </a:solidFill>
                <a:latin typeface="Arial"/>
                <a:ea typeface="Arial"/>
                <a:cs typeface="Arial"/>
              </a:rPr>
              <a:t>Preparation moves outside machine downtime wherever possible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3B2A9-6FD5-4D8B-9A3D-36B1A030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71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Before the stop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CDAA6-009F-40A4-BE37-2D6F7D25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76450"/>
            <a:ext cx="3333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Confirm the next work order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Stage rolls, cores, rods and tools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Load recipe and work instruction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Confirm pallet, crane and forklift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F141F-E276-4F3C-BF3C-88BE236D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71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During the 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A43E2-47FC-4D62-95FC-7326B15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3333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Remove depleted material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Install the prepared roll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Align and thread the layers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Complete the first-off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43721-5A3B-4426-97EB-87E26D5A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After restart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92BAD-8B73-426A-B546-0B645B80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3333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Return empty cores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Record output and scrap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Replenish the next-job kit</a:t>
            </a:r>
          </a:p>
          <a:p xmlns:a="http://schemas.openxmlformats.org/drawingml/2006/main">
            <a:pPr>
              <a:defRPr sz="150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Restore 5S without stopping 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022DC-8466-4E70-B063-3788C559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Daily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6B274-FAB6-4198-9189-41EF99A6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Two-job readiness at least 95% by Day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BAFA1-9E0C-4B7E-8699-15EB02F9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Track scrap by product and defect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772F3-BCA1-426C-9A88-F00520C4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101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Escalate a repeated material-flow issue after the second occurrence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FF45C-ED50-4CF4-9F3D-441E46C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387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Review the top three micro-stops at each daily tier meeting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69F05-5040-45C0-BB2E-B7640711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3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B838B"/>
                </a:solidFill>
                <a:latin typeface="Arial"/>
                <a:ea typeface="Arial"/>
                <a:cs typeface="Arial"/>
              </a:rPr>
              <a:t>CAP2 action plan     5</a:t>
            </a:r>
          </a:p>
        </p:txBody>
      </p:sp>
    </p:spTree>
    <p:extLst>
      <p:ext uri="{BB962C8B-B14F-4D97-AF65-F5344CB8AC3E}">
        <p14:creationId xmlns:p14="http://schemas.microsoft.com/office/powerpoint/2010/main" val="1774438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E975D-BBC9-4E20-946D-07C8896B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Hourly production control and support calls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DE885-2242-41BE-A6F2-627910AA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872"/>
                </a:solidFill>
                <a:latin typeface="Arial"/>
                <a:ea typeface="Arial"/>
                <a:cs typeface="Arial"/>
              </a:rPr>
              <a:t>Operators see the active product target and receive support when the line falls behind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0B1D5-DDD6-4C9C-BA91-FF9347F3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CAP2 HOURLY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FCF59-719A-43FD-829E-B8C3449C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872"/>
                </a:solidFill>
                <a:latin typeface="Arial"/>
                <a:ea typeface="Arial"/>
                <a:cs typeface="Arial"/>
              </a:rPr>
              <a:t>Active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9A09A-ED86-4C1C-9023-604E02A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VersaDUEL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57AAD-2A7A-4CE4-B2A6-7FABDCA9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872"/>
                </a:solidFill>
                <a:latin typeface="Arial"/>
                <a:ea typeface="Arial"/>
                <a:cs typeface="Arial"/>
              </a:rPr>
              <a:t>Hourly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AB499-BE0E-4A6E-91DD-1BFCB787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Product-specific target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ABE63-6D24-4510-8891-59BADBD8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872"/>
                </a:solidFill>
                <a:latin typeface="Arial"/>
                <a:ea typeface="Arial"/>
                <a:cs typeface="Arial"/>
              </a:rPr>
              <a:t>Actual this hour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4154C-3AC3-469A-8F26-F1A99DC8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Live count from posting, scanner or PLC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3F993-3C98-48EC-B3D6-27D9971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872"/>
                </a:solidFill>
                <a:latin typeface="Arial"/>
                <a:ea typeface="Arial"/>
                <a:cs typeface="Arial"/>
              </a:rPr>
              <a:t>Gap and 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2312C-B189-495F-A2C7-5074E7AA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Green on plan   Amber recovery needed   Red supervisor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18CAF-DCF4-4D8F-95A0-737B5E0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Supervisor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BB638-1C2C-4031-BE70-1474DF2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Proposed logic: green at 100% or above, amber at 90% to 99%, and red below 90% or after two consecutive missed hours. The alert sends product, target, actual, gap, loss reason and requested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87A69-B288-48DF-AA60-AAFD37A4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5732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Support request buttons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293E2-321D-4DEF-8CA0-890A18A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0306B-D9FC-49E1-8FC5-6853F4FA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SCRAP BIN PICKUP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E720F-E641-4199-B6C1-AE8D717C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4BBB9-9D15-40FA-903C-BCE9602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QUALITY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A3FC8-FA3A-4A20-9BA2-264F96E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3476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PACKAGING OR FORKLIFT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D65F5-3F24-4FDB-8680-76ED3D6B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Each request records call time, acknowledgement, arrival, completion and lost minutes. The screen shows request status, and overdue calls escalate to the shift supervisor.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CAF76-7201-40AC-BF19-2FEFB454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3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B838B"/>
                </a:solidFill>
                <a:latin typeface="Arial"/>
                <a:ea typeface="Arial"/>
                <a:cs typeface="Arial"/>
              </a:rPr>
              <a:t>CAP2 action plan     6</a:t>
            </a:r>
          </a:p>
        </p:txBody>
      </p:sp>
    </p:spTree>
    <p:extLst>
      <p:ext uri="{BB962C8B-B14F-4D97-AF65-F5344CB8AC3E}">
        <p14:creationId xmlns:p14="http://schemas.microsoft.com/office/powerpoint/2010/main" val="1729639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75289-0DAF-4C68-8797-2B7A96F2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90 day 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740E9-44AD-462A-B1C0-D24B00E9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872"/>
                </a:solidFill>
                <a:latin typeface="Arial"/>
                <a:ea typeface="Arial"/>
                <a:cs typeface="Arial"/>
              </a:rPr>
              <a:t>Changes advance only after safety quality and repeatability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34F7D-6EDA-4CE2-ABBB-CB75565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Days 1 to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D7DF0-E50B-4971-A2E6-245E0AF7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CD9F1-5E87-44A0-9581-F923AF8A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52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Reconcile production time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Complete 10-shift baseline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Observe setups and micro-stops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04695-5A2D-42D6-BDC4-0C4F6FE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Accepted baseline and top loss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32801-7271-48FA-91E2-A28FE811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Days 15 to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0A591-BB4B-430E-8C37-75E4E48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47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1F522-2AE7-4315-B6FA-FC8B43AA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52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Trial standard work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Launch hourly target screen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Test support buttons and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245D5-A4EC-47F0-A8C0-F57C2F8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Approved method and trained pilot crew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59AEB-0719-4962-A527-63BF59A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Days 31 to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DF913-1915-4620-B18B-5604C02A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47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Stabilize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EFBDC-0201-40D6-8C81-69C3DFA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52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Release product target cards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Complete speed and SMED trials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Fix top equipment losses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376CF-6930-4AF4-8C2E-EE712691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Downtime down 30% and audit at least 85%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7FEAA-4468-4FB0-B86C-2BE86D10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Days 61 to 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94F2F-8DF8-4060-BE1A-A5ADB9E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252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DD0CE-0C54-4C3D-960D-B1AB016F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52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Verify sustained results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Close hook-bar design gates</a:t>
            </a:r>
          </a:p>
          <a:p xmlns:a="http://schemas.openxmlformats.org/drawingml/2006/main">
            <a:pPr>
              <a:defRPr sz="1350" b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Transfer ownership to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1E2B0-00A8-4333-959A-A4E2E88A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62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0AD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AD47"/>
                </a:solidFill>
                <a:latin typeface="Arial"/>
                <a:ea typeface="Arial"/>
                <a:cs typeface="Arial"/>
              </a:rPr>
              <a:t>Downtime down 50% and audit at least 90%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A5FA6-FC5D-4D8F-9B64-69E0A65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1E1E"/>
                </a:solidFill>
                <a:latin typeface="Arial"/>
                <a:ea typeface="Arial"/>
                <a:cs typeface="Arial"/>
              </a:rPr>
              <a:t>Immediate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ED321-FD24-4DFD-8CA5-E65B9C2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Approve the two-week baseline sprint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1E53E-42BB-4FE6-A414-4B34B3E8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768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Assign owners for crane, rewind, setup, material and scrap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8329F-13C0-44B7-93D4-2C5AE39E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76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Approve alert thresholds, support response times and controlled trials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D2311-7AB7-4E8A-B3E7-CDECD94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3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B838B"/>
                </a:solidFill>
                <a:latin typeface="Arial"/>
                <a:ea typeface="Arial"/>
                <a:cs typeface="Arial"/>
              </a:rPr>
              <a:t>CAP2 action plan     7</a:t>
            </a:r>
          </a:p>
        </p:txBody>
      </p:sp>
    </p:spTree>
    <p:extLst>
      <p:ext uri="{BB962C8B-B14F-4D97-AF65-F5344CB8AC3E}">
        <p14:creationId xmlns:p14="http://schemas.microsoft.com/office/powerpoint/2010/main" val="490943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2026-09-23T02:41:29.4570000Z</dcterms:created>
  <dcterms:modified xsi:type="dcterms:W3CDTF">2026-09-23T02:41:29.4570000Z</dcterms:modified>
</coreProperties>
</file>